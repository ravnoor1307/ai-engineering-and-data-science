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9E8F2B-74B4-4802-B6DE-FD0A644F7477}">
  <a:tblStyle styleId="{279E8F2B-74B4-4802-B6DE-FD0A644F74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038e99c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038e99c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9038e99c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9038e99c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9038e99c6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9038e99c6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9038e99c6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9038e99c6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9038e99c6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9038e99c6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9038e99c6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9038e99c6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038e99c6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038e99c6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9038e99c6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9038e99c6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9038e99c6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9038e99c6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9038e99c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9038e99c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9038e99c6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9038e99c6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9038e99c6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9038e99c6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9038e99c6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9038e99c6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038e99c6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038e99c6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9038e99c6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9038e99c6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9038e99c6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9038e99c6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9038e99c6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9038e99c6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9038e99c6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9038e99c6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9038e99c6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9038e99c6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9038e99c6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9038e99c6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038e99c6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038e99c6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9038e99c6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9038e99c6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245417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efficiency in programming?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0" y="245417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Why efficiency is important?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0" y="201002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Types of efficiency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0" y="201002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Space and Time Efficiency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0" y="2010025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Our focus - Time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0" y="2454150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Techniques to measure time efficiency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Measuring </a:t>
            </a:r>
            <a:r>
              <a:rPr b="1" lang="en" sz="3000">
                <a:solidFill>
                  <a:srgbClr val="FF0000"/>
                </a:solidFill>
              </a:rPr>
              <a:t>time</a:t>
            </a:r>
            <a:r>
              <a:rPr lang="en" sz="3000"/>
              <a:t> to execute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b="1" lang="en" sz="3000">
                <a:solidFill>
                  <a:srgbClr val="FF0000"/>
                </a:solidFill>
              </a:rPr>
              <a:t>Counting</a:t>
            </a:r>
            <a:r>
              <a:rPr lang="en" sz="3000"/>
              <a:t> operations involved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Abstract notion of </a:t>
            </a:r>
            <a:r>
              <a:rPr b="1" lang="en" sz="3000">
                <a:solidFill>
                  <a:srgbClr val="FF0000"/>
                </a:solidFill>
              </a:rPr>
              <a:t>order of growth</a:t>
            </a:r>
            <a:endParaRPr b="1" sz="3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ctrTitle"/>
          </p:nvPr>
        </p:nvSpPr>
        <p:spPr>
          <a:xfrm>
            <a:off x="0" y="2205950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558800" lvl="0" marL="457200" rtl="0" algn="ctr">
              <a:spcBef>
                <a:spcPts val="0"/>
              </a:spcBef>
              <a:spcAft>
                <a:spcPts val="0"/>
              </a:spcAft>
              <a:buClr>
                <a:srgbClr val="4C1130"/>
              </a:buClr>
              <a:buSzPts val="5200"/>
              <a:buFont typeface="Merriweather"/>
              <a:buAutoNum type="arabicPeriod"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Measuring Time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261250"/>
            <a:ext cx="8520600" cy="48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0000"/>
                </a:solidFill>
              </a:rPr>
              <a:t>Problems with this approach</a:t>
            </a:r>
            <a:endParaRPr b="1" sz="3000">
              <a:solidFill>
                <a:srgbClr val="FF0000"/>
              </a:solidFill>
            </a:endParaRPr>
          </a:p>
        </p:txBody>
      </p:sp>
      <p:graphicFrame>
        <p:nvGraphicFramePr>
          <p:cNvPr id="103" name="Google Shape;103;p21"/>
          <p:cNvGraphicFramePr/>
          <p:nvPr/>
        </p:nvGraphicFramePr>
        <p:xfrm>
          <a:off x="952500" y="123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{279E8F2B-74B4-4802-B6DE-FD0A644F7477}</a:tableStyleId>
              </a:tblPr>
              <a:tblGrid>
                <a:gridCol w="6153700"/>
                <a:gridCol w="1085300"/>
              </a:tblGrid>
              <a:tr h="64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Different time for different algorithm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    </a:t>
                      </a:r>
                      <a:r>
                        <a:rPr b="1" lang="en" sz="2400">
                          <a:solidFill>
                            <a:srgbClr val="38761D"/>
                          </a:solidFill>
                        </a:rPr>
                        <a:t>✔️</a:t>
                      </a:r>
                      <a:endParaRPr b="1" sz="24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Time varies if implementation changes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Different machines different time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Does not work for extremely small input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07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Time varies for different inputs, but can’t establish a relationship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" name="Google Shape;104;p21"/>
          <p:cNvSpPr/>
          <p:nvPr/>
        </p:nvSpPr>
        <p:spPr>
          <a:xfrm>
            <a:off x="7321725" y="19158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>
            <a:off x="7397925" y="25254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7397925" y="32112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7397925" y="39732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ctrTitle"/>
          </p:nvPr>
        </p:nvSpPr>
        <p:spPr>
          <a:xfrm>
            <a:off x="0" y="2205950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2. Counting Operations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261250"/>
            <a:ext cx="8520600" cy="48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FF0000"/>
                </a:solidFill>
              </a:rPr>
              <a:t>Problems with this approach</a:t>
            </a:r>
            <a:endParaRPr b="1" sz="3000">
              <a:solidFill>
                <a:srgbClr val="FF0000"/>
              </a:solidFill>
            </a:endParaRPr>
          </a:p>
        </p:txBody>
      </p:sp>
      <p:graphicFrame>
        <p:nvGraphicFramePr>
          <p:cNvPr id="123" name="Google Shape;123;p24"/>
          <p:cNvGraphicFramePr/>
          <p:nvPr/>
        </p:nvGraphicFramePr>
        <p:xfrm>
          <a:off x="952500" y="123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{279E8F2B-74B4-4802-B6DE-FD0A644F7477}</a:tableStyleId>
              </a:tblPr>
              <a:tblGrid>
                <a:gridCol w="6153700"/>
                <a:gridCol w="1085300"/>
              </a:tblGrid>
              <a:tr h="59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Different time for different algorithm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    </a:t>
                      </a:r>
                      <a:r>
                        <a:rPr b="1" lang="en" sz="2400">
                          <a:solidFill>
                            <a:srgbClr val="38761D"/>
                          </a:solidFill>
                        </a:rPr>
                        <a:t>✔️</a:t>
                      </a:r>
                      <a:endParaRPr b="1" sz="24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9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Time varies if implementation changes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9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Different machines different time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400">
                          <a:solidFill>
                            <a:srgbClr val="38761D"/>
                          </a:solidFill>
                        </a:rPr>
                        <a:t>    ✔️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8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No clear definition of which operation to count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99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Time varies for different inputs, but can’t establish a relationship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400">
                          <a:solidFill>
                            <a:srgbClr val="38761D"/>
                          </a:solidFill>
                        </a:rPr>
                        <a:t>    ✔️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24"/>
          <p:cNvSpPr/>
          <p:nvPr/>
        </p:nvSpPr>
        <p:spPr>
          <a:xfrm>
            <a:off x="7321725" y="19158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/>
          <p:nvPr/>
        </p:nvSpPr>
        <p:spPr>
          <a:xfrm>
            <a:off x="7397925" y="3211275"/>
            <a:ext cx="587700" cy="572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want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We want to evaluate the algorithm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We want to evaluate scalability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We want to evaluate in terms of input size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ctrTitle"/>
          </p:nvPr>
        </p:nvSpPr>
        <p:spPr>
          <a:xfrm>
            <a:off x="0" y="2205950"/>
            <a:ext cx="9144000" cy="10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3. Orders of Growth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1" name="Google Shape;141;p27"/>
          <p:cNvSpPr txBox="1"/>
          <p:nvPr>
            <p:ph idx="1" type="subTitle"/>
          </p:nvPr>
        </p:nvSpPr>
        <p:spPr>
          <a:xfrm>
            <a:off x="386050" y="3757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1130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                      							</a:t>
            </a:r>
            <a:endParaRPr>
              <a:solidFill>
                <a:srgbClr val="4C113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the idea is simple</a:t>
            </a:r>
            <a:endParaRPr/>
          </a:p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13" y="1166813"/>
            <a:ext cx="4371975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870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Law of addition</a:t>
            </a:r>
            <a:endParaRPr/>
          </a:p>
        </p:txBody>
      </p:sp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Law of multiplication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6233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Complexity Growth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72700"/>
            <a:ext cx="8520600" cy="44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